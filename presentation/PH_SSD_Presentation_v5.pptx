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371600"/>
            <a:ext cx="92656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1A56DB"/>
                </a:solidFill>
              </a:defRPr>
            </a:pPr>
            <a:r>
              <a:t>B.TECH FINAL YEAR RESEARCH PROPOSAL</a:t>
            </a:r>
          </a:p>
          <a:p>
            <a:pPr>
              <a:spcAft>
                <a:spcPts val="1800"/>
              </a:spcAft>
              <a:defRPr sz="2800" b="1">
                <a:solidFill>
                  <a:srgbClr val="0F1C3F"/>
                </a:solidFill>
              </a:defRPr>
            </a:pPr>
            <a:r>
              <a:t>PH-SSD: Port-Hamiltonian State Space Dualities</a:t>
            </a:r>
            <a:br/>
            <a:r>
              <a:t>for Efficient Multimodal Learning</a:t>
            </a:r>
          </a:p>
          <a:p>
            <a:pPr>
              <a:spcAft>
                <a:spcPts val="3600"/>
              </a:spcAft>
              <a:defRPr sz="1400">
                <a:solidFill>
                  <a:srgbClr val="334155"/>
                </a:solidFill>
              </a:defRPr>
            </a:pPr>
            <a:r>
              <a:t>A Linear-Complexity Architecture for Joint Vision-Language Modeling</a:t>
            </a:r>
          </a:p>
          <a:p>
            <a:pPr>
              <a:defRPr sz="1200" b="1">
                <a:solidFill>
                  <a:srgbClr val="0F1C3F"/>
                </a:solidFill>
              </a:defRPr>
            </a:pPr>
            <a:r>
              <a:t>Student Presenter: [Student Name]</a:t>
            </a:r>
            <a:br/>
            <a:r>
              <a:t>Department: Department of Computer Science &amp; Engineering</a:t>
            </a:r>
            <a:br/>
            <a:r>
              <a:t>Institution: [University / College Name]  |  Advisor: [Faculty Advisor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Limitations of Current Multimodal AI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Key computational bottlenecks in modern Vision-Language Transformers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2 of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30352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74520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C3F"/>
                </a:solidFill>
                <a:latin typeface="Arial"/>
              </a:defRPr>
            </a:pPr>
            <a:r>
              <a:t>High Memory &amp; O(N²) Complexity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Standard Transformer self-attention scales quadratically with sequence length N.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VRAM footprint rapidly explodes when processing high-resolution images &amp; long captions.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54680"/>
            <a:ext cx="530352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383280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C3F"/>
                </a:solidFill>
                <a:latin typeface="Arial"/>
              </a:defRPr>
            </a:pPr>
            <a:r>
              <a:t>Poor Multimodal Fusion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Conventional cross-attention layers introduce alignment latency.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Fails to capture fine-grained energy dynamics between visual patches and text tokens.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530352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892040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C3F"/>
                </a:solidFill>
                <a:latin typeface="Arial"/>
              </a:defRPr>
            </a:pPr>
            <a:r>
              <a:t>Background Noise &amp; Computational Waste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Raw visual patches contain redundant background noise.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Unfiltered noise inflates FLOPs and degrades multimodal retrieval precision.</a:t>
            </a:r>
          </a:p>
        </p:txBody>
      </p:sp>
      <p:pic>
        <p:nvPicPr>
          <p:cNvPr id="14" name="Picture 13" descr="fig_problem_complex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Unified Synergy in Multimodal Perception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Inspiration from human cognitive multimodal understanding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3 of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74520"/>
            <a:ext cx="43891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C3F"/>
                </a:solidFill>
                <a:latin typeface="Arial"/>
              </a:defRPr>
            </a:pPr>
            <a:r>
              <a:t>Human vs. Machine Perception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Real-Life Example: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Visual Stream: An image showing a dog playing with a ball.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Textual Stream: Caption reads 'A dog is playing in the park.'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Human Perception: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Humans process visual and textual cues simultaneously as a unified energy system.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Current AI Flaw: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Modern models process inputs separately, incurring severe fusion overhead.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The PH-SSD Solution: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Joint state-space dualities conserve energy while filtering spatial and textual noise.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645920"/>
            <a:ext cx="2377440" cy="2103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874520"/>
            <a:ext cx="17373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A56DB"/>
                </a:solidFill>
                <a:latin typeface="Arial"/>
              </a:defRPr>
            </a:pPr>
            <a:r>
              <a:t>Visual Stream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Image Frame: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Spatial visual features of a dog playing with a ball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1645920"/>
            <a:ext cx="2377440" cy="21031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1874520"/>
            <a:ext cx="17373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284C7"/>
                </a:solidFill>
                <a:latin typeface="Arial"/>
              </a:defRPr>
            </a:pPr>
            <a:r>
              <a:t>Text Stream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Caption Token: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"A dog is playing in the park."</a:t>
            </a:r>
          </a:p>
        </p:txBody>
      </p:sp>
      <p:sp>
        <p:nvSpPr>
          <p:cNvPr id="14" name="Left-Right Arrow 13"/>
          <p:cNvSpPr/>
          <p:nvPr/>
        </p:nvSpPr>
        <p:spPr>
          <a:xfrm>
            <a:off x="8430768" y="2560320"/>
            <a:ext cx="420624" cy="228600"/>
          </a:xfrm>
          <a:prstGeom prst="left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55080" y="4114800"/>
            <a:ext cx="4572000" cy="17373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4343400"/>
            <a:ext cx="393192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47857"/>
                </a:solidFill>
                <a:latin typeface="Arial"/>
              </a:defRPr>
            </a:pPr>
            <a:r>
              <a:t>Unified Multimodal Synergy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Co-dependent joint energy representation.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Human-like simultaneous vision-language perception.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RESEARCH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Core Strategic Goals of PH-SSD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Five key architectural targets designed for efficiency and robustness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4 of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55648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✓ Remove Noisy Information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Utilize Port-Hamiltonian energy dissipation to filter out irrelevant background visual noise and text redundancy.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42032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651760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✓ Improve Multimodal Fusion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Develop a Variational Cross-Modal (VCM) coupler for tight latent alignment between vision and text.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38144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47872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✓ Reduce Complexity to O(N)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Replace quadratic Transformer attention with Mamba-2 State Space Dualities for linear-time scaling.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34256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43984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✓ Maximize Computational Efficiency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Achieve lower memory usage, faster inference latency, and high sample throughput.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30368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340096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✓ Build Scalable Multimodal AI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Establish a robust, modular backbone adaptable to long-context enterprise multimodal tasks.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RESEARCH DOMAIN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Taxonomy &amp; Evolutionary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Positioning PH-SSD within modern artificial intelligence paradigms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5 of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889699" cy="2103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1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011680"/>
            <a:ext cx="1670243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0F1C3F"/>
                </a:solidFill>
              </a:defRPr>
            </a:pPr>
            <a:r>
              <a:t>Artificial Intelligence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Foundational AI Field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76083" y="2788920"/>
            <a:ext cx="210312" cy="18288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41259" y="1828800"/>
            <a:ext cx="1889699" cy="2103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50987" y="2011680"/>
            <a:ext cx="1670243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1E3A8A"/>
                </a:solidFill>
              </a:defRPr>
            </a:pPr>
            <a:r>
              <a:t>Deep Learning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Neural Architectures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5822" y="2788920"/>
            <a:ext cx="210312" cy="18288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50998" y="1828800"/>
            <a:ext cx="1889699" cy="210312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60726" y="2011680"/>
            <a:ext cx="1670243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1A56DB"/>
                </a:solidFill>
              </a:defRPr>
            </a:pPr>
            <a:r>
              <a:t>Multimodal Learning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Vision &amp; Language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095561" y="2788920"/>
            <a:ext cx="210312" cy="18288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60737" y="1828800"/>
            <a:ext cx="1889699" cy="210312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70465" y="2011680"/>
            <a:ext cx="1670243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0284C7"/>
                </a:solidFill>
              </a:defRPr>
            </a:pPr>
            <a:r>
              <a:t>State Space Models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Linear Sequences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305300" y="2788920"/>
            <a:ext cx="210312" cy="18288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570476" y="1828800"/>
            <a:ext cx="1889699" cy="210312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80204" y="2011680"/>
            <a:ext cx="1670243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10B981"/>
                </a:solidFill>
              </a:defRPr>
            </a:pPr>
            <a:r>
              <a:t>PH-SSD Model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Energy Dualities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297680"/>
            <a:ext cx="521208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526280"/>
            <a:ext cx="45720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C3F"/>
                </a:solidFill>
                <a:latin typeface="Arial"/>
              </a:defRPr>
            </a:pPr>
            <a:r>
              <a:t>Domain Foundation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Combines Systems &amp; Control Theory (Port-Hamiltonian Systems) with modern Deep Learning.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Extends State Space Models (SSMs) to high-dimensional multimodal vision-language tasks.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297680"/>
            <a:ext cx="5242255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4526280"/>
            <a:ext cx="460217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C3F"/>
                </a:solidFill>
                <a:latin typeface="Arial"/>
              </a:defRPr>
            </a:pPr>
            <a:r>
              <a:t>Architectural Breakthrough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First framework to achieve physics-inspired noise filtering (SD-NPF) before State Space Duality.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Establishes a new state-of-the-art benchmark for efficient multimodal fusion.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Flickr8k Benchmark Dataset &amp; Rationale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Primary experimental dataset for model proposal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6 of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47548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74520"/>
            <a:ext cx="411480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C3F"/>
                </a:solidFill>
                <a:latin typeface="Arial"/>
              </a:defRPr>
            </a:pPr>
            <a:r>
              <a:t>Dataset Specifications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Dataset Name: Flickr8k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Total Images: 8,000 Natural Scenes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Total Captions: 40,000 Descriptions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Caption Ratio: 5 Captions per Image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Dataset Size: ~1.0 GB Total Storage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Splits: 6,000 Train | 1,000 Val | 1,000 Test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Modalities: Dual-Stream Images &amp; Natural Text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Task: Image-Text Cross-Modal Retrieval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645920"/>
            <a:ext cx="5699455" cy="2103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874520"/>
            <a:ext cx="5059375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A56DB"/>
                </a:solidFill>
                <a:latin typeface="Arial"/>
              </a:defRPr>
            </a:pPr>
            <a:r>
              <a:t>Why Choose Flickr8k for Proposal?</a:t>
            </a:r>
          </a:p>
          <a:p>
            <a:pPr>
              <a:spcAft>
                <a:spcPts val="600"/>
              </a:spcAft>
              <a:defRPr b="1" sz="1050">
                <a:solidFill>
                  <a:srgbClr val="334155"/>
                </a:solidFill>
                <a:latin typeface="Arial"/>
              </a:defRPr>
            </a:pPr>
            <a:r>
              <a:t>✓ Ideal Benchmark Size: Enables rapid architecture validation &amp; debugging.</a:t>
            </a:r>
          </a:p>
          <a:p>
            <a:pPr>
              <a:spcAft>
                <a:spcPts val="600"/>
              </a:spcAft>
              <a:defRPr b="1" sz="1050">
                <a:solidFill>
                  <a:srgbClr val="334155"/>
                </a:solidFill>
                <a:latin typeface="Arial"/>
              </a:defRPr>
            </a:pPr>
            <a:r>
              <a:t>✓ Official Standard: Widely recognized baseline dataset in multimodal literature.</a:t>
            </a:r>
          </a:p>
          <a:p>
            <a:pPr>
              <a:spcAft>
                <a:spcPts val="600"/>
              </a:spcAft>
              <a:defRPr b="1" sz="1050">
                <a:solidFill>
                  <a:srgbClr val="334155"/>
                </a:solidFill>
                <a:latin typeface="Arial"/>
              </a:defRPr>
            </a:pPr>
            <a:r>
              <a:t>✓ Low Resource Footprint (~1 GB): Fits comfortably on single GPU hardware.</a:t>
            </a:r>
          </a:p>
          <a:p>
            <a:pPr>
              <a:spcAft>
                <a:spcPts val="600"/>
              </a:spcAft>
              <a:defRPr b="1" sz="1050">
                <a:solidFill>
                  <a:srgbClr val="334155"/>
                </a:solidFill>
                <a:latin typeface="Arial"/>
              </a:defRPr>
            </a:pPr>
            <a:r>
              <a:t>✓ Proof-of-Concept Baseline: Prepares model before scaling to Flickr30k &amp; MS-COCO.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3931920"/>
            <a:ext cx="5699455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4160520"/>
            <a:ext cx="5059375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C3F"/>
                </a:solidFill>
                <a:latin typeface="Arial"/>
              </a:defRPr>
            </a:pPr>
            <a:r>
              <a:t>Sample Image-Caption Pair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Image: A child playing on a wooden outdoor slide.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Caption 1: "A child in a pink dress is climbing wooden stairs."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Caption 2: "A little girl in a pink shirt climbs into a playhouse."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OVERALL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End-to-End Dual-Stream PH-SSD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High-level diagram of vision &amp; text encoders, SD-NPF, Mamba-2 SSD, and VCM-SSD Coupler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7 of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645920" cy="11887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56DB"/>
                </a:solidFill>
              </a:defRPr>
            </a:pPr>
            <a:r>
              <a:t>Input Image</a:t>
            </a:r>
          </a:p>
          <a:p>
            <a:pPr algn="ctr">
              <a:defRPr sz="900">
                <a:solidFill>
                  <a:srgbClr val="334155"/>
                </a:solidFill>
              </a:defRPr>
            </a:pPr>
            <a:r>
              <a:t>RGB 224×224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23160" y="2148840"/>
            <a:ext cx="182880" cy="18288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51760" y="1645920"/>
            <a:ext cx="1645920" cy="118872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82880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56DB"/>
                </a:solidFill>
              </a:defRPr>
            </a:pPr>
            <a:r>
              <a:t>Vision Encoder</a:t>
            </a:r>
          </a:p>
          <a:p>
            <a:pPr algn="ctr">
              <a:defRPr sz="900">
                <a:solidFill>
                  <a:srgbClr val="334155"/>
                </a:solidFill>
              </a:defRPr>
            </a:pPr>
            <a:r>
              <a:t>ViT / DINOv2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343400" y="2148840"/>
            <a:ext cx="182880" cy="18288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0" y="1645920"/>
            <a:ext cx="1645920" cy="118872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82880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SD-NPF</a:t>
            </a:r>
          </a:p>
          <a:p>
            <a:pPr algn="ctr">
              <a:defRPr sz="900">
                <a:solidFill>
                  <a:srgbClr val="334155"/>
                </a:solidFill>
              </a:defRPr>
            </a:pPr>
            <a:r>
              <a:t>Noise Filter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263640" y="2148840"/>
            <a:ext cx="182880" cy="18288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0" y="1645920"/>
            <a:ext cx="1645920" cy="11887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1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82880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C3F"/>
                </a:solidFill>
              </a:defRPr>
            </a:pPr>
            <a:r>
              <a:t>Mamba-2 SSD</a:t>
            </a:r>
          </a:p>
          <a:p>
            <a:pPr algn="ctr">
              <a:defRPr sz="900">
                <a:solidFill>
                  <a:srgbClr val="334155"/>
                </a:solidFill>
              </a:defRPr>
            </a:pPr>
            <a:r>
              <a:t>Vision Dual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291840"/>
            <a:ext cx="1645920" cy="11887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47472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Input Caption</a:t>
            </a:r>
          </a:p>
          <a:p>
            <a:pPr algn="ctr">
              <a:defRPr sz="900">
                <a:solidFill>
                  <a:srgbClr val="334155"/>
                </a:solidFill>
              </a:defRPr>
            </a:pPr>
            <a:r>
              <a:t>Natural Text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423160" y="3794760"/>
            <a:ext cx="182880" cy="18288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651760" y="3291840"/>
            <a:ext cx="1645920" cy="118872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0" y="347472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Text Encoder</a:t>
            </a:r>
          </a:p>
          <a:p>
            <a:pPr algn="ctr">
              <a:defRPr sz="900">
                <a:solidFill>
                  <a:srgbClr val="334155"/>
                </a:solidFill>
              </a:defRPr>
            </a:pPr>
            <a:r>
              <a:t>RoBERTa Base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343400" y="3794760"/>
            <a:ext cx="182880" cy="18288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72000" y="3291840"/>
            <a:ext cx="1645920" cy="118872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347472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SD-NPF</a:t>
            </a:r>
          </a:p>
          <a:p>
            <a:pPr algn="ctr">
              <a:defRPr sz="900">
                <a:solidFill>
                  <a:srgbClr val="334155"/>
                </a:solidFill>
              </a:defRPr>
            </a:pPr>
            <a:r>
              <a:t>Noise Filter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6263640" y="3794760"/>
            <a:ext cx="182880" cy="18288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92240" y="3291840"/>
            <a:ext cx="1645920" cy="11887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1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347472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C3F"/>
                </a:solidFill>
              </a:defRPr>
            </a:pPr>
            <a:r>
              <a:t>Mamba-2 SSD</a:t>
            </a:r>
          </a:p>
          <a:p>
            <a:pPr algn="ctr">
              <a:defRPr sz="900">
                <a:solidFill>
                  <a:srgbClr val="334155"/>
                </a:solidFill>
              </a:defRPr>
            </a:pPr>
            <a:r>
              <a:t>Text Dual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0" y="1828800"/>
            <a:ext cx="1645920" cy="2377440"/>
          </a:xfrm>
          <a:prstGeom prst="roundRect">
            <a:avLst/>
          </a:prstGeom>
          <a:solidFill>
            <a:srgbClr val="D1FAE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2468880"/>
            <a:ext cx="1463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47857"/>
                </a:solidFill>
              </a:defRPr>
            </a:pPr>
            <a:r>
              <a:t>VCM-SSD Coupler</a:t>
            </a:r>
            <a:br/>
            <a:r>
              <a:t>(Variational</a:t>
            </a:r>
            <a:br/>
            <a:r>
              <a:t>Fusion)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32720" y="2468880"/>
            <a:ext cx="1097280" cy="1097280"/>
          </a:xfrm>
          <a:prstGeom prst="roundRect">
            <a:avLst/>
          </a:prstGeom>
          <a:solidFill>
            <a:srgbClr val="0F1C3F"/>
          </a:solidFill>
          <a:ln>
            <a:solidFill>
              <a:srgbClr val="0F1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Joint Output</a:t>
            </a:r>
            <a:br/>
            <a:r>
              <a:t>Prediction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78440" y="2743200"/>
            <a:ext cx="1005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4" name="Right Arrow 33"/>
          <p:cNvSpPr/>
          <p:nvPr/>
        </p:nvSpPr>
        <p:spPr>
          <a:xfrm>
            <a:off x="8001000" y="2148840"/>
            <a:ext cx="365760" cy="18288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8001000" y="3794760"/>
            <a:ext cx="365760" cy="18288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ight Arrow 35"/>
          <p:cNvSpPr/>
          <p:nvPr/>
        </p:nvSpPr>
        <p:spPr>
          <a:xfrm>
            <a:off x="10076688" y="2926080"/>
            <a:ext cx="228600" cy="18288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5120640"/>
            <a:ext cx="10728655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5349240"/>
            <a:ext cx="1008857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Dual-Stream Processing: Parallel vision &amp; text feature extraction -&gt; SD-NPF noise damping -&gt; Mamba-2 SSD linear temporal modeling -&gt; VCM-SSD variational fusion.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CONCRETE EXAMPLE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Step-by-Step Execution on a Real Pair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Intuitive visual flow demonstrating how PH-SSD processes a sample image and caption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8 of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521409" cy="2560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011680"/>
            <a:ext cx="1301953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0F1C3F"/>
                </a:solidFill>
              </a:defRPr>
            </a:pPr>
            <a:r>
              <a:t>1. Input Pair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Image: Dog playing</a:t>
            </a:r>
            <a:br/>
            <a:r>
              <a:t>Caption: 'A dog is playing'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307793" y="3017520"/>
            <a:ext cx="210312" cy="18288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72969" y="1828800"/>
            <a:ext cx="1521409" cy="25603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82697" y="2011680"/>
            <a:ext cx="1301953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1E3A8A"/>
                </a:solidFill>
              </a:defRPr>
            </a:pPr>
            <a:r>
              <a:t>2. Encoders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ViT Patches &amp;</a:t>
            </a:r>
            <a:br/>
            <a:r>
              <a:t>RoBERTa Tokens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149242" y="3017520"/>
            <a:ext cx="210312" cy="18288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14418" y="1828800"/>
            <a:ext cx="1521409" cy="256032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4146" y="2011680"/>
            <a:ext cx="1301953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1A56DB"/>
                </a:solidFill>
              </a:defRPr>
            </a:pPr>
            <a:r>
              <a:t>3. SD-NPF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Removes grass &amp; text</a:t>
            </a:r>
            <a:br/>
            <a:r>
              <a:t>background noise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90691" y="3017520"/>
            <a:ext cx="210312" cy="18288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55867" y="1828800"/>
            <a:ext cx="1521409" cy="256032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5595" y="2011680"/>
            <a:ext cx="1301953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0284C7"/>
                </a:solidFill>
              </a:defRPr>
            </a:pPr>
            <a:r>
              <a:t>4. Mamba-2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Linear O(N) dual</a:t>
            </a:r>
            <a:br/>
            <a:r>
              <a:t>sequence modeling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832140" y="3017520"/>
            <a:ext cx="210312" cy="18288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97316" y="1828800"/>
            <a:ext cx="1521409" cy="256032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07044" y="2011680"/>
            <a:ext cx="1301953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10B981"/>
                </a:solidFill>
              </a:defRPr>
            </a:pPr>
            <a:r>
              <a:t>5. VCM-SSD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Variational latent</a:t>
            </a:r>
            <a:br/>
            <a:r>
              <a:t>fusion space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673589" y="3017520"/>
            <a:ext cx="210312" cy="18288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938765" y="1828800"/>
            <a:ext cx="1521409" cy="25603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48493" y="2011680"/>
            <a:ext cx="1301953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047857"/>
                </a:solidFill>
              </a:defRPr>
            </a:pPr>
            <a:r>
              <a:t>6. Prediction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Image ↔ Text</a:t>
            </a:r>
            <a:br/>
            <a:r>
              <a:t>Match Score = 0.96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754880"/>
            <a:ext cx="10728655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983480"/>
            <a:ext cx="1008857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C3F"/>
                </a:solidFill>
                <a:latin typeface="Arial"/>
              </a:defRPr>
            </a:pPr>
            <a:r>
              <a:t>Why Concrete Flow Helps Faculty Understanding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Replaces abstract equations with a tangible pipeline.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Shows how raw RGB pixels of a dog playing with a ball and sentence tokens are noise-damped, state-modeled, and coupled into a high-confidence match score.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COMPONENT 1: SD-NPF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Symplectic Dissipative Neural Pre-Filter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Removing noisy background clutter before state space modeling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9 of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303520" cy="13716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74520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A56DB"/>
                </a:solidFill>
                <a:latin typeface="Arial"/>
              </a:defRPr>
            </a:pPr>
            <a:r>
              <a:t>1. What Does It Do? (Intuition)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Filters out uninformative visual clutter (e.g. grass, background trees) and redundant text tokens.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Ensures down-stream State Space Models process pure semantic signals rather than noise.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54680"/>
            <a:ext cx="5303520" cy="137160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383280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284C7"/>
                </a:solidFill>
                <a:latin typeface="Arial"/>
              </a:defRPr>
            </a:pPr>
            <a:r>
              <a:t>2. How Does It Work? (Mechanism)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Inspired by Port-Hamiltonian physical control systems.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Applies a dissipative energy damping matrix R(x) &gt;= 0 to attenuate high-frequency noise perturbations.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530352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1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892040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C3F"/>
                </a:solidFill>
                <a:latin typeface="Arial"/>
              </a:defRPr>
            </a:pPr>
            <a:r>
              <a:t>3. Mathematical Formulation (Equations)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State Equation:  dx/dt = [J(x) - R(x)] grad H(x)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J(x) = -J(x)ᵀ : Energy-conserving symplectic matrix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Guarantees bounded asymptotic feature stability.</a:t>
            </a:r>
          </a:p>
        </p:txBody>
      </p:sp>
      <p:pic>
        <p:nvPicPr>
          <p:cNvPr id="14" name="Picture 13" descr="fig_sd_npf_ener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COMPONENT 2: MAMBA-2 SSD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State Space Duality Backbone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Linear-time sequence processing engine replacing self-attention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10 of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74520"/>
            <a:ext cx="43891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C3F"/>
                </a:solidFill>
                <a:latin typeface="Arial"/>
              </a:defRPr>
            </a:pPr>
            <a:r>
              <a:t>Mamba-2 &amp; SSD Concepts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What is Mamba-2?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A State Space Model (SSM) designed for sequence processing with linear O(N) time complexity.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Replaces quadratic O(N²) Transformer self-attention.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What is State Space Duality (SSD)?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Connects continuous-time state space models with structured matrix multiplication.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Key Advantages: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5× faster inference speedup on GPU hardware.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Sub-quadratic VRAM memory footprint.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645920"/>
            <a:ext cx="5516575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26480" y="2103120"/>
          <a:ext cx="51206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/>
                <a:gridCol w="1706880"/>
                <a:gridCol w="1706880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Metric / Attribute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Standard Transformer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PH-SSD (Mamba-2)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Time Complexity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O(N²)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C3F"/>
                          </a:solidFill>
                        </a:defRPr>
                      </a:pPr>
                      <a:r>
                        <a:t>O(N) Linear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Memory Scaling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Quadratic O(N²)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C3F"/>
                          </a:solidFill>
                        </a:defRPr>
                      </a:pPr>
                      <a:r>
                        <a:t>Linear O(N)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Noise Handling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None (Processes All)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C3F"/>
                          </a:solidFill>
                        </a:defRPr>
                      </a:pPr>
                      <a:r>
                        <a:t>SD-NPF Filtered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Inference Latency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High Bottleneck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C3F"/>
                          </a:solidFill>
                        </a:defRPr>
                      </a:pPr>
                      <a:r>
                        <a:t>Ultra-Low Scan Kernel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Multimodal 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Cross-Attention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C3F"/>
                          </a:solidFill>
                        </a:defRPr>
                      </a:pPr>
                      <a:r>
                        <a:t>Variational VCM-SSD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COMPONENT 3: VCM-SSD COUPLER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Variational Cross-Modal SSD Coupler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Dynamic latent alignment connecting vision and language state spaces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11 of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74520"/>
            <a:ext cx="43891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C3F"/>
                </a:solidFill>
                <a:latin typeface="Arial"/>
              </a:defRPr>
            </a:pPr>
            <a:r>
              <a:t>VCM-SSD Coupler Highlights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Cross-Modal State Duality: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Directly bridges filtered vision hidden states h_v with text hidden states h_t.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Variational Latent Space: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Learns a probabilistic joint distribution q(z|v,t) bounded by KL divergence loss.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Tight Semantic Alignment: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Enforces semantic consistency across image patches and sentence tokens.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Bidirectional Retrieval Head: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Supports dual Image-to-Text and Text-to-Image cross-modal inference.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645920"/>
            <a:ext cx="2286000" cy="201168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874520"/>
            <a:ext cx="16459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A56DB"/>
                </a:solidFill>
                <a:latin typeface="Arial"/>
              </a:defRPr>
            </a:pPr>
            <a:r>
              <a:t>Vision Features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Filtered Vision Stream h_v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4023360"/>
            <a:ext cx="2286000" cy="201168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251960"/>
            <a:ext cx="16459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284C7"/>
                </a:solidFill>
                <a:latin typeface="Arial"/>
              </a:defRPr>
            </a:pPr>
            <a:r>
              <a:t>Text Features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Filtered Text Stream h_t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2468880"/>
            <a:ext cx="2743200" cy="274320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2697480"/>
            <a:ext cx="210312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47857"/>
                </a:solidFill>
                <a:latin typeface="Arial"/>
              </a:defRPr>
            </a:pPr>
            <a:r>
              <a:t>VCM-SSD Engine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Variational Latent q(z|v,t)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Cross-Modal SSD Duality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KL Divergence Regularizer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Step-by-Step 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Complete end-to-end data flow from raw multimodal inputs to final predictions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12 of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521409" cy="2743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011680"/>
            <a:ext cx="1301953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0F1C3F"/>
                </a:solidFill>
              </a:defRPr>
            </a:pPr>
            <a:r>
              <a:t>1. Input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Raw Image &amp;</a:t>
            </a:r>
            <a:br/>
            <a:r>
              <a:t>Text Tokens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307793" y="3108960"/>
            <a:ext cx="210312" cy="18288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72969" y="1828800"/>
            <a:ext cx="1521409" cy="27432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82697" y="2011680"/>
            <a:ext cx="1301953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1E3A8A"/>
                </a:solidFill>
              </a:defRPr>
            </a:pPr>
            <a:r>
              <a:t>2. Encoder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ViT / RoBERTa</a:t>
            </a:r>
            <a:br/>
            <a:r>
              <a:t>Embeddings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149242" y="3108960"/>
            <a:ext cx="210312" cy="18288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14418" y="1828800"/>
            <a:ext cx="1521409" cy="274320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4146" y="2011680"/>
            <a:ext cx="1301953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1A56DB"/>
                </a:solidFill>
              </a:defRPr>
            </a:pPr>
            <a:r>
              <a:t>3. SD-NPF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Port-Hamiltonian</a:t>
            </a:r>
            <a:br/>
            <a:r>
              <a:t>Noise Filter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90691" y="3108960"/>
            <a:ext cx="210312" cy="18288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55867" y="1828800"/>
            <a:ext cx="1521409" cy="274320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5595" y="2011680"/>
            <a:ext cx="1301953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0284C7"/>
                </a:solidFill>
              </a:defRPr>
            </a:pPr>
            <a:r>
              <a:t>4. Mamba-2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State Space</a:t>
            </a:r>
            <a:br/>
            <a:r>
              <a:t>SSD Backbone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832140" y="3108960"/>
            <a:ext cx="210312" cy="18288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97316" y="1828800"/>
            <a:ext cx="1521409" cy="274320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07044" y="2011680"/>
            <a:ext cx="1301953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10B981"/>
                </a:solidFill>
              </a:defRPr>
            </a:pPr>
            <a:r>
              <a:t>5. VCM-SSD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Variational</a:t>
            </a:r>
            <a:br/>
            <a:r>
              <a:t>Joint Coupler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673589" y="3108960"/>
            <a:ext cx="210312" cy="18288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938765" y="1828800"/>
            <a:ext cx="1521409" cy="27432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48493" y="2011680"/>
            <a:ext cx="1301953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047857"/>
                </a:solidFill>
              </a:defRPr>
            </a:pPr>
            <a:r>
              <a:t>6. Output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Retrieval &amp;</a:t>
            </a:r>
            <a:br/>
            <a:r>
              <a:t>Prediction Score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937760"/>
            <a:ext cx="5212080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5166360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C3F"/>
                </a:solidFill>
                <a:latin typeface="Arial"/>
              </a:defRPr>
            </a:pPr>
            <a:r>
              <a:t>Input &amp; Pre-Filtering (Steps 1-3)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Raw RGB images and text captions are embedded via ViT and RoBERTa, then noise-damped using Port-Hamiltonian SD-NPF.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937760"/>
            <a:ext cx="52422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5166360"/>
            <a:ext cx="46021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C3F"/>
                </a:solidFill>
                <a:latin typeface="Arial"/>
              </a:defRPr>
            </a:pPr>
            <a:r>
              <a:t>SSD &amp; Variational Output (Steps 4-6)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Filtered features are modeled via Mamba-2 linear state spaces and fused in VCM-SSD for final score prediction.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Software Architecture &amp; Framework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Production-ready open-source libraries powering the PH-SSD codebase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13 of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134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29562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56DB"/>
                </a:solidFill>
              </a:defRPr>
            </a:pPr>
            <a:r>
              <a:t>Python 3.10+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Core Programming Language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134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828800"/>
            <a:ext cx="29562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C3F"/>
                </a:solidFill>
              </a:defRPr>
            </a:pPr>
            <a:r>
              <a:t>PyTorch 2.x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Deep Learning Engine &amp; Autograd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4134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828800"/>
            <a:ext cx="29562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56DB"/>
                </a:solidFill>
              </a:defRPr>
            </a:pPr>
            <a:r>
              <a:t>Mamba-2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State Space Duality Backbone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08960"/>
            <a:ext cx="34134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291840"/>
            <a:ext cx="29562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Vision Transformer (ViT)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Patch Embedding Vision Encoder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108960"/>
            <a:ext cx="34134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291840"/>
            <a:ext cx="29562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C3F"/>
                </a:solidFill>
              </a:defRPr>
            </a:pPr>
            <a:r>
              <a:t>DINOv2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Self-Supervised Vision Features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108960"/>
            <a:ext cx="34134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3291840"/>
            <a:ext cx="29562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56DB"/>
                </a:solidFill>
              </a:defRPr>
            </a:pPr>
            <a:r>
              <a:t>RoBERTa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Pretrained Language Transformer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572000"/>
            <a:ext cx="34134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754880"/>
            <a:ext cx="29562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Hugging Face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Model Registry &amp; Tokenizers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572000"/>
            <a:ext cx="34134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4754880"/>
            <a:ext cx="29562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C3F"/>
                </a:solidFill>
              </a:defRPr>
            </a:pPr>
            <a:r>
              <a:t>timm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PyTorch Image Models Suite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4572000"/>
            <a:ext cx="34134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4754880"/>
            <a:ext cx="29562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34155"/>
                </a:solidFill>
              </a:defRPr>
            </a:pPr>
            <a:r>
              <a:t>YAML / PyYAML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Modular Configuration Management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EXPECTED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Comprehensive Evaluation Metrics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Rigorous metrics for evaluating accuracy, retrieval, latency, and efficiency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14 of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542032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21762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A56DB"/>
                </a:solidFill>
              </a:defRPr>
            </a:pPr>
            <a:r>
              <a:t>Recall@1 (R@1)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Primary Image-Text Retrieval 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645920"/>
            <a:ext cx="2542032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1828800"/>
            <a:ext cx="21762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A56DB"/>
                </a:solidFill>
              </a:defRPr>
            </a:pPr>
            <a:r>
              <a:t>Recall@5 (R@5)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Top-5 Candidate Retrieval Precision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645920"/>
            <a:ext cx="2542032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1828800"/>
            <a:ext cx="21762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A56DB"/>
                </a:solidFill>
              </a:defRPr>
            </a:pPr>
            <a:r>
              <a:t>Recall@10 (R@10)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Top-10 Candidate Retrieval Coverage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645920"/>
            <a:ext cx="2542032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89136" y="1828800"/>
            <a:ext cx="21762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C3F"/>
                </a:solidFill>
              </a:defRPr>
            </a:pPr>
            <a:r>
              <a:t>Accuracy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Classification &amp; Semantic Matching 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40480"/>
            <a:ext cx="2542032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21762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EF4444"/>
                </a:solidFill>
              </a:defRPr>
            </a:pPr>
            <a:r>
              <a:t>Latency (ms)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End-to-End Inference Latency per Sample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56432" y="3840480"/>
            <a:ext cx="2542032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39312" y="4023360"/>
            <a:ext cx="21762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C3F"/>
                </a:solidFill>
              </a:defRPr>
            </a:pPr>
            <a:r>
              <a:t>FLOPs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Floating Point Operations Overhead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3840480"/>
            <a:ext cx="2542032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4023360"/>
            <a:ext cx="21762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Throughput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Processed Images/Sec Processing Speed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06256" y="3840480"/>
            <a:ext cx="2542032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89136" y="4023360"/>
            <a:ext cx="21762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EF4444"/>
                </a:solidFill>
              </a:defRPr>
            </a:pPr>
            <a:r>
              <a:t>Memory (VRAM)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Peak GPU Memory Allocation (GB)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NOVEL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Three Core Architectural Breakthroughs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Primary technical contributions introduced in the PH-SSD proposal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15 of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55648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1. SD-NPF (Port-Hamiltonian Noise Filter)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First pre-filter framework combining Port-Hamiltonian energy dynamics with deep neural representations for physics-inspired noise reduction.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42032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651760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2. VCM-SSD (Variational Cross-Modal Coupler)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Novel VCM-SSD coupler enabling probabilistic latent space alignment between vision and text hidden states.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38144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47872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3. PH-SSD System Architecture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Integration of Mamba-2 linear state spaces into an efficient dual-stream multimodal learning backbone.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34256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43984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✓ Linear O(N) Scaling Efficiency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Yields lower VRAM usage and faster inference latency compared to quadratic Transformers.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30368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340096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✓ Modular Design Strategy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Clean, decoupled architecture supporting easy swapping of vision/text backbones and evaluation protocols.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CURRENT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Milestone Progress &amp; Project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Overview of completed architectural milestones and pending experimental tasks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16 of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74519"/>
            <a:ext cx="457200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0B981"/>
                </a:solidFill>
              </a:defRPr>
            </a:pPr>
            <a:r>
              <a:t>Completed Milestones</a:t>
            </a:r>
          </a:p>
          <a:p>
            <a:pPr>
              <a:spcAft>
                <a:spcPts val="200"/>
              </a:spcAft>
              <a:defRPr sz="1100" b="1">
                <a:solidFill>
                  <a:srgbClr val="047857"/>
                </a:solidFill>
              </a:defRPr>
            </a:pPr>
            <a:r>
              <a:t>✓ Architecture Designed &amp; Verified: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</a:defRPr>
            </a:pPr>
            <a:r>
              <a:t>   • Dual-stream vision-text topology finalized.</a:t>
            </a:r>
          </a:p>
          <a:p>
            <a:pPr>
              <a:spcAft>
                <a:spcPts val="200"/>
              </a:spcAft>
              <a:defRPr sz="1100" b="1">
                <a:solidFill>
                  <a:srgbClr val="047857"/>
                </a:solidFill>
              </a:defRPr>
            </a:pPr>
            <a:r>
              <a:t>✓ Mathematical Formulation Established: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</a:defRPr>
            </a:pPr>
            <a:r>
              <a:t>   • Port-Hamiltonian energy dissipation equations derived.</a:t>
            </a:r>
          </a:p>
          <a:p>
            <a:pPr>
              <a:spcAft>
                <a:spcPts val="200"/>
              </a:spcAft>
              <a:defRPr sz="1100" b="1">
                <a:solidFill>
                  <a:srgbClr val="047857"/>
                </a:solidFill>
              </a:defRPr>
            </a:pPr>
            <a:r>
              <a:t>✓ Code Implementation Built: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</a:defRPr>
            </a:pPr>
            <a:r>
              <a:t>   • Modular PyTorch pipeline with SD-NPF &amp; VCM-SSD.</a:t>
            </a:r>
          </a:p>
          <a:p>
            <a:pPr>
              <a:spcAft>
                <a:spcPts val="200"/>
              </a:spcAft>
              <a:defRPr sz="1100" b="1">
                <a:solidFill>
                  <a:srgbClr val="047857"/>
                </a:solidFill>
              </a:defRPr>
            </a:pPr>
            <a:r>
              <a:t>✓ Unit Testing Suite Verified: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</a:defRPr>
            </a:pPr>
            <a:r>
              <a:t>   • All forward passes and tensor shapes validated.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42255" cy="43891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874519"/>
            <a:ext cx="4602175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A56DB"/>
                </a:solidFill>
              </a:defRPr>
            </a:pPr>
            <a:r>
              <a:t>Pending Execution</a:t>
            </a:r>
          </a:p>
          <a:p>
            <a:pPr>
              <a:spcAft>
                <a:spcPts val="200"/>
              </a:spcAft>
              <a:defRPr sz="1100" b="1">
                <a:solidFill>
                  <a:srgbClr val="1A56DB"/>
                </a:solidFill>
              </a:defRPr>
            </a:pPr>
            <a:r>
              <a:t>⏱ Flickr8k Model Training: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</a:defRPr>
            </a:pPr>
            <a:r>
              <a:t>   • Launch multi-epoch training runs on Flickr8k dataset.</a:t>
            </a:r>
          </a:p>
          <a:p>
            <a:pPr>
              <a:spcAft>
                <a:spcPts val="200"/>
              </a:spcAft>
              <a:defRPr sz="1100" b="1">
                <a:solidFill>
                  <a:srgbClr val="1A56DB"/>
                </a:solidFill>
              </a:defRPr>
            </a:pPr>
            <a:r>
              <a:t>⏱ Benchmark Evaluation &amp; Ablation Studies: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</a:defRPr>
            </a:pPr>
            <a:r>
              <a:t>   • Compute Recall@1, 5, 10 retrieval metrics &amp; FLOPs.</a:t>
            </a:r>
          </a:p>
          <a:p>
            <a:pPr>
              <a:spcAft>
                <a:spcPts val="200"/>
              </a:spcAft>
              <a:defRPr sz="1100" b="1">
                <a:solidFill>
                  <a:srgbClr val="1A56DB"/>
                </a:solidFill>
              </a:defRPr>
            </a:pPr>
            <a:r>
              <a:t>⏱ Comparative Analysis: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</a:defRPr>
            </a:pPr>
            <a:r>
              <a:t>   • Evaluate against CLIP, BLIP-2, SigLIP, and VL-Mamba.</a:t>
            </a:r>
          </a:p>
          <a:p>
            <a:pPr>
              <a:spcAft>
                <a:spcPts val="200"/>
              </a:spcAft>
              <a:defRPr sz="1100" b="1">
                <a:solidFill>
                  <a:srgbClr val="1A56DB"/>
                </a:solidFill>
              </a:defRPr>
            </a:pPr>
            <a:r>
              <a:t>⏱ Publication Preparation: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</a:defRPr>
            </a:pPr>
            <a:r>
              <a:t>   • Draft manuscript for target conference submission.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Dataset Expansion &amp; Target Publication Venues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Planned research roadmap, baseline comparisons, and target venues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17 of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74520"/>
            <a:ext cx="43891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C3F"/>
                </a:solidFill>
                <a:latin typeface="Arial"/>
              </a:defRPr>
            </a:pPr>
            <a:r>
              <a:t>Future Expansion &amp; Baselines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Dataset Expansion Plan: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Train and evaluate on Flickr8k.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Scale evaluation to Flickr30k benchmark.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Benchmark on large-scale MS-COCO dataset.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Baseline Models for Comparison: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CLIP (Contrastive Language-Image Pretraining)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BLIP-2 (Bootstrapped Language-Image Pre-training)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SigLIP (Sigmoid Loss for Language Image Pre-training)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VL-Mamba (Vision-Language State Space Baseline)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645920"/>
            <a:ext cx="2560320" cy="20116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92024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600" b="1">
                <a:solidFill>
                  <a:srgbClr val="1A56DB"/>
                </a:solidFill>
              </a:defRPr>
            </a:pPr>
            <a:r>
              <a:t>NeurIPS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Neural Information Processing Systems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1645920"/>
            <a:ext cx="2560320" cy="201168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92024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600" b="1">
                <a:solidFill>
                  <a:srgbClr val="0284C7"/>
                </a:solidFill>
              </a:defRPr>
            </a:pPr>
            <a:r>
              <a:t>ICML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International Conference on Machine Learning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840480"/>
            <a:ext cx="2560320" cy="2011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1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411480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600" b="1">
                <a:solidFill>
                  <a:srgbClr val="0F1C3F"/>
                </a:solidFill>
              </a:defRPr>
            </a:pPr>
            <a:r>
              <a:t>ICLR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International Conference on Learning Representations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3840480"/>
            <a:ext cx="2560320" cy="201168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411480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IEEE TPAMI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Transactions on Pattern Analysis &amp; Machine Intelligence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Summary of Research Impact &amp; Breakthroughs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Executive summary of the PH-SSD architecture and its contributions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18 of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55648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Novel Physics-Inspired Architecture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PH-SSD seamlessly combines Port-Hamiltonian energy dynamics with State Space Dualities for robust multimodal learning.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42032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651760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Effective Noise Suppression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SD-NPF pre-filtering actively removes uninformative background noise and redundant feature tokens.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38144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47872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Linear O(N) Scaling Efficiency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Replaces quadratic Transformer self-attention with Mamba-2 linear state spaces for ultra-fast, low-memory execution.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34256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43984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Superior Cross-Modal Alignment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VCM-SSD variational coupler enforces tight latent space cohesion between vision and text streams.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30368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340096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Paving the Way for Efficient AI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Bridges control theory and state space models to push the frontier of scalable, efficient AI systems.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FACULTY Q&amp;A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Prepared Answers for Review Panel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Cheat sheet for defending core research decisions during presentation Q&amp;A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19 of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42255" cy="1325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83080"/>
            <a:ext cx="47850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A56DB"/>
                </a:solidFill>
              </a:defRPr>
            </a:pPr>
            <a:r>
              <a:t>Q1: Why Mamba over Transformer?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Answer: Transformer self-attention is O(N²) quadratic; Mamba-2 is O(N) linear with lower VRAM and 5× speedup.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42255" cy="1325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783080"/>
            <a:ext cx="47850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284C7"/>
                </a:solidFill>
              </a:defRPr>
            </a:pPr>
            <a:r>
              <a:t>Q2: Why Port-Hamiltonian (SD-NPF)?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Answer: Applies energy dissipation to filter out background visual/textual noise prior to state space encoding.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54680"/>
            <a:ext cx="5242255" cy="1325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91840"/>
            <a:ext cx="47850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1C3F"/>
                </a:solidFill>
              </a:defRPr>
            </a:pPr>
            <a:r>
              <a:t>Q3: Why Flickr8k for Proposal?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Answer: Small, official benchmark ideal for rapid proof-of-concept architecture validation on single GPU.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154680"/>
            <a:ext cx="5242255" cy="1325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291840"/>
            <a:ext cx="47850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</a:defRPr>
            </a:pPr>
            <a:r>
              <a:t>Q4: Is this your own model?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Answer: The overall PH-SSD architecture, SD-NPF, and VCM-SSD are proposed design; ViT, RoBERTa, Mamba are backbones.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63440"/>
            <a:ext cx="5242255" cy="1325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800600"/>
            <a:ext cx="47850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F4444"/>
                </a:solidFill>
              </a:defRPr>
            </a:pPr>
            <a:r>
              <a:t>Q5: Have you trained it?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Answer: Architecture design, math formulation, code, and unit tests are complete; Flickr8k training is pending.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663440"/>
            <a:ext cx="5242255" cy="1325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800600"/>
            <a:ext cx="47850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A56DB"/>
                </a:solidFill>
              </a:defRPr>
            </a:pPr>
            <a:r>
              <a:t>Q6: What are your key contributions?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Answer: 1. SD-NPF noise filter, 2. VCM-SSD variational coupler, 3. PH-SSD efficient multimodal system architecture.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