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A56DB"/>
                </a:solidFill>
              </a:defRPr>
            </a:pPr>
            <a:r>
              <a:t>RESEARCH PROPOSAL</a:t>
            </a:r>
          </a:p>
          <a:p>
            <a:pPr>
              <a:spcAft>
                <a:spcPts val="1800"/>
              </a:spcAft>
              <a:defRPr sz="2800" b="1">
                <a:solidFill>
                  <a:srgbClr val="0F1C3F"/>
                </a:solidFill>
              </a:defRPr>
            </a:pPr>
            <a:r>
              <a:t>PH-SSD: Port-Hamiltonian State Space Dualities</a:t>
            </a:r>
            <a:br/>
            <a:r>
              <a:t>for Efficient Multimodal Learning</a:t>
            </a:r>
          </a:p>
          <a:p>
            <a:pPr>
              <a:spcAft>
                <a:spcPts val="4000"/>
              </a:spcAft>
              <a:defRPr sz="1400">
                <a:solidFill>
                  <a:srgbClr val="334155"/>
                </a:solidFill>
              </a:defRPr>
            </a:pPr>
            <a:r>
              <a:t>A Linear-Complexity Architecture for Joint Vision-Language Modeling</a:t>
            </a:r>
          </a:p>
          <a:p>
            <a:pPr>
              <a:defRPr sz="1200" b="1">
                <a:solidFill>
                  <a:srgbClr val="0F1C3F"/>
                </a:solidFill>
              </a:defRPr>
            </a:pPr>
            <a:r>
              <a:t>Name: [Presenter Name]</a:t>
            </a:r>
            <a:br/>
            <a:r>
              <a:t>Department: [Department]</a:t>
            </a:r>
            <a:br/>
            <a:r>
              <a:t>University: [University]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Limitations of Current Multimodal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Key computational bottlenecks in modern Vision-Language Transformers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2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High Memory &amp; O(N²) Complexity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Standard Transformer self-attention scales quadratically with sequence length 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VRAM footprint rapidly explodes when processing high-resolution images &amp; long captions.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Poor Multimodal Fusion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Conventional cross-attention layers introduce alignment latency.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Fails to capture fine-grained energy dynamics between visual patches and text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30352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Background Noise &amp; Computational Waste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Raw visual patches contain redundant background noise.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Unfiltered noise inflates FLOPs and degrades multimodal retrieval precision.</a:t>
            </a:r>
          </a:p>
        </p:txBody>
      </p:sp>
      <p:pic>
        <p:nvPicPr>
          <p:cNvPr id="14" name="Picture 13" descr="fig_problem_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Unified Synergy in Multimodal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Inspiration from human cognitive multimodal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3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Human vs. Machine Perception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Real-Life Example: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Visual Stream: An image showing a dog playing with a ball.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Textual Stream: Caption reads 'A dog is playing in the park.'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 Perception: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Humans process visual and textual cues simultaneously as a unified energy system.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Current AI Flaw: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Modern models process inputs separately, incurring severe fusion overhead.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The PH-SSD Solution: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Joint state-space dualities conserve energy while filtering spatial and textual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37744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Visual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Image Frame: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Spatial visual features of a dog playing with a ball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645920"/>
            <a:ext cx="2377440" cy="2103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74520"/>
            <a:ext cx="1737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Stream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Token: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"A dog is playing in the park."</a:t>
            </a:r>
          </a:p>
        </p:txBody>
      </p:sp>
      <p:sp>
        <p:nvSpPr>
          <p:cNvPr id="14" name="Left-Right Arrow 13"/>
          <p:cNvSpPr/>
          <p:nvPr/>
        </p:nvSpPr>
        <p:spPr>
          <a:xfrm>
            <a:off x="8430768" y="2560320"/>
            <a:ext cx="420624" cy="228600"/>
          </a:xfrm>
          <a:prstGeom prst="left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4114800"/>
            <a:ext cx="4572000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3931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Unified Multimodal Synergy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Co-dependent joint energy representation.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Human-like simultaneous vision-language perception.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Core Strategic Goals of PH-SSD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Five key architectural targets designed for efficiency and robustness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4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Remove Noisy Information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Utilize Port-Hamiltonian energy dissipation to filter out irrelevant background visual noise and text redundancy.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Improve Multimodal Fusion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Develop a Variational Cross-Modal (VCM) coupler for tight latent alignment between vision and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Reduce Complexity to O(N)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 quadratic Transformer attention with Mamba-2 State Space Dualities for linear-time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Maximize Computational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Achieve lower memory usage, faster inference latency, and high sample throughput.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Build Scalable Multimodal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Establish a robust, modular backbone adaptable to long-context enterprise multimodal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RESEARCH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Taxonomy &amp; Evolutionary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Positioning PH-SSD within modern artificial intelligence paradigms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5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889699" cy="2103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Artificial Intelligence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Foundational AI Field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6083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41259" y="1828800"/>
            <a:ext cx="1889699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0987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Deep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Architectures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5822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50998" y="1828800"/>
            <a:ext cx="1889699" cy="21031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0726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Multimodal Learning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Vision &amp; Language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5561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0737" y="1828800"/>
            <a:ext cx="1889699" cy="21031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465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State Space Models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Linear Sequences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05300" y="278892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0476" y="1828800"/>
            <a:ext cx="1889699" cy="21031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0204" y="2011680"/>
            <a:ext cx="1670243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PH-SSD Model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Energy Dualities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97680"/>
            <a:ext cx="521208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2628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Domain Foundation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Combines Systems &amp; Control Theory (Port-Hamiltonian Systems) with modern Deep Learning.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Extends State Space Models (SSMs) to high-dimensional multimodal vision-language tasks.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97680"/>
            <a:ext cx="5242255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460217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Architectural Breakthrough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First framework to achieve physics-inspired noise filtering (SD-NPF) before State Space Duality.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Establishes a new state-of-the-art benchmark for efficient multimodal fusion.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Flickr8k Benchmark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experimental dataset for multimodal retrieval and feature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6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114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Dataset Specifications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Name: Flickr8k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Images: 8,000 Natural Scenes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Total Captions: 40,000 Descriptions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Caption Ratio: 5 Captions per Image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Size: ~1.0 GB Total Storage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Splits: 6,000 Train | 1,000 Val | 1,000 Test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Modalities: Dual-Stream Images &amp; Natural Text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Task: Image-Text Cross-Modal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45920"/>
            <a:ext cx="5699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874520"/>
            <a:ext cx="50593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Flickr8k Multi-Caption Pairing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286000"/>
            <a:ext cx="2011680" cy="32918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0175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C3F"/>
                </a:solidFill>
              </a:defRPr>
            </a:pPr>
            <a:r>
              <a:t>[ Image Sample ]</a:t>
            </a:r>
            <a:br/>
            <a:r>
              <a:t>Flickr8k ID: 1000268201</a:t>
            </a:r>
            <a:br/>
            <a:br/>
            <a:r>
              <a:t>RGB 224×224</a:t>
            </a:r>
            <a:br/>
            <a:r>
              <a:t>Natural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28600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1. A child in a pink dress is climbing a wooden stairs.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92608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2. A little girl in a pink shirt climbs into a playhouse.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566159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611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3. A young girl in pink going up a wooden ladder outdoors.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420624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2519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4. A child wearing pink outfit plays on wooden structure.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46320"/>
            <a:ext cx="283464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334155"/>
                </a:solidFill>
              </a:defRPr>
            </a:pPr>
            <a:r>
              <a:t>5. The girl is climbing up the steps to the wooden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End-to-End Dual-Stream PH-SSD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High-level diagram of vision &amp; text encoders, SD-NPF, Mamba-2 SSD, and VCM-SSD Coupler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7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64592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Input Image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RGB 224×224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1645920" cy="118872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Vision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ViT / DINOv2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40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148840"/>
            <a:ext cx="18288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Vision 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1645920" cy="1188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Input Caption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Natural Text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42316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5176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Text Encoder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RoBERTa Base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4340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291840"/>
            <a:ext cx="1645920" cy="11887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SD-NPF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Noise Filter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263640" y="3794760"/>
            <a:ext cx="18288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3291840"/>
            <a:ext cx="1645920" cy="11887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47472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1C3F"/>
                </a:solidFill>
              </a:defRPr>
            </a:pPr>
            <a:r>
              <a:t>Mamba-2 SSD</a:t>
            </a:r>
          </a:p>
          <a:p>
            <a:pPr algn="ctr">
              <a:defRPr sz="900">
                <a:solidFill>
                  <a:srgbClr val="334155"/>
                </a:solidFill>
              </a:defRPr>
            </a:pPr>
            <a:r>
              <a:t>Text Dual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828800"/>
            <a:ext cx="1645920" cy="237744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246888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47857"/>
                </a:solidFill>
              </a:defRPr>
            </a:pPr>
            <a:r>
              <a:t>VCM-SSD Coupler</a:t>
            </a:r>
            <a:br/>
            <a:r>
              <a:t>(Variational</a:t>
            </a:r>
            <a:br/>
            <a:r>
              <a:t>Fusion)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32720" y="2468880"/>
            <a:ext cx="1097280" cy="1097280"/>
          </a:xfrm>
          <a:prstGeom prst="roundRect">
            <a:avLst/>
          </a:prstGeom>
          <a:solidFill>
            <a:srgbClr val="0F1C3F"/>
          </a:solidFill>
          <a:ln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Joint Output</a:t>
            </a:r>
            <a:br/>
            <a:r>
              <a:t>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2743200"/>
            <a:ext cx="1005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4" name="Right Arrow 33"/>
          <p:cNvSpPr/>
          <p:nvPr/>
        </p:nvSpPr>
        <p:spPr>
          <a:xfrm>
            <a:off x="8001000" y="2148840"/>
            <a:ext cx="365760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8001000" y="3794760"/>
            <a:ext cx="36576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76688" y="2926080"/>
            <a:ext cx="22860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349240"/>
            <a:ext cx="1008857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Dual-Stream Processing: Parallel vision &amp; text feature extraction -&gt; SD-NPF noise damping -&gt; Mamba-2 SSD linear temporal modeling -&gt; VCM-SSD variational fusion.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1: SD-NPF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Symplectic Dissipative Neural Pre-Filter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Port-Hamiltonian energy dynamics for physics-inspired feature noise removal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8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SD-NPF Core Mechanism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Mathematical Formulation: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State Equation:  dx/dt = [J(x) - R(x)] grad H(x)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J(x) = -J(x)ᵀ : Symplectic Energy Matrix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R(x) ≥ 0     : Dissipative Damping Matrix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Key Advantages: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Energy Dissipation: Dissipates high-frequency noise while preserving essential semantic manifold topology.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Noise Removal: Attenuates background visual clutter and text token redundancy before state space encoding.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Feature Stability: Guarantees bounded asymptotic stability.</a:t>
            </a:r>
          </a:p>
        </p:txBody>
      </p:sp>
      <p:pic>
        <p:nvPicPr>
          <p:cNvPr id="10" name="Picture 9" descr="fig_sd_npf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51657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2: MAMBA-2 SSD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State Space Duality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Linear-time sequence processing engine replacing self-attention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9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Why Mamba-2 State Space Model?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Linear Computational Complexity O(N):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Eliminates the O(N²) attention matrix bottleneck.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Selective State Space Dualities (SSD):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Duality between continuous State Space Models and structured matrix multiplication.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Hardware-Aware Efficiency: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Optimized memory scan kernels yield up to 5× faster processing on modern GPUs.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Sub-Quadratic VRAM Footprint: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Enables long sequence context windows without VRAM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51657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2103120"/>
          <a:ext cx="5120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/ Attribute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Standard Transformer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PH-SSD (Mamba-2)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O(N)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Memory Scaling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Quadratic O(N²)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Linear O(N)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Noise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None (Processes 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SD-NPF Filtered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High Bottleneck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Ultra-Low Scan Kernel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Multimodal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Cross-Attention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C3F"/>
                          </a:solidFill>
                        </a:defRPr>
                      </a:pPr>
                      <a:r>
                        <a:t>Variational VCM-SSD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COMPONENT 3: VCM-SSD COUPLER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Variational Cross-Modal SSD Coupler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Dynamic latent alignment connecting vision and language state 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10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VCM-SSD Coupler Highlights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State Duality: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Directly bridges filtered vision hidden states h_v with text hidden states h_t.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Space: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Learns a probabilistic joint distribution q(z|v,t) bounded by KL divergence loss.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Tight Semantic Alignment: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Enforces semantic consistency across image patches and sentence tokens.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Bidirectional Retrieval Head: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Supports dual Image-to-Text and Text-to-Image cross-modal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28600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56DB"/>
                </a:solidFill>
                <a:latin typeface="Arial"/>
              </a:defRPr>
            </a:pPr>
            <a:r>
              <a:t>Vision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Vision Stream h_v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023360"/>
            <a:ext cx="228600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1645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Text Features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Text Stream h_t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468880"/>
            <a:ext cx="2743200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697480"/>
            <a:ext cx="21031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47857"/>
                </a:solidFill>
                <a:latin typeface="Arial"/>
              </a:defRPr>
            </a:pPr>
            <a:r>
              <a:t>VCM-SSD Engine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Variational Latent q(z|v,t)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Cross-Modal SSD Duality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KL Divergence Regularizer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Step-by-Step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Complete end-to-end data flow from raw multimodal inputs to final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11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521409" cy="2743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F1C3F"/>
                </a:solidFill>
              </a:defRPr>
            </a:pPr>
            <a:r>
              <a:t>1. Input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Raw Image &amp;</a:t>
            </a:r>
            <a:br/>
            <a:r>
              <a:t>Text Tokens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7793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72969" y="1828800"/>
            <a:ext cx="1521409" cy="2743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2697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2. Encoder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ViT / RoBERTa</a:t>
            </a:r>
            <a:br/>
            <a:r>
              <a:t>Embeddings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9242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4418" y="1828800"/>
            <a:ext cx="1521409" cy="27432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4146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A56DB"/>
                </a:solidFill>
              </a:defRPr>
            </a:pPr>
            <a:r>
              <a:t>3. SD-NPF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Port-Hamiltonian</a:t>
            </a:r>
            <a:br/>
            <a:r>
              <a:t>Noise Filter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0691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55867" y="1828800"/>
            <a:ext cx="1521409" cy="274320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5595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4. Mamba-2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State Space</a:t>
            </a:r>
            <a:br/>
            <a:r>
              <a:t>SSD Backbone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32140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7316" y="1828800"/>
            <a:ext cx="1521409" cy="27432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7044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5. VCM-SSD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Variational</a:t>
            </a:r>
            <a:br/>
            <a:r>
              <a:t>Joint Coupler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73589" y="3108960"/>
            <a:ext cx="210312" cy="18288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38765" y="1828800"/>
            <a:ext cx="1521409" cy="2743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8493" y="2011680"/>
            <a:ext cx="1301953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47857"/>
                </a:solidFill>
              </a:defRPr>
            </a:pPr>
            <a:r>
              <a:t>6. Output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Retrieval &amp;</a:t>
            </a:r>
            <a:br/>
            <a:r>
              <a:t>Prediction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52120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Input &amp; Pre-Filtering (Steps 1-3)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Raw RGB images and text captions are embedded via ViT and RoBERTa, then noise-damped using Port-Hamiltonian SD-NPF.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937760"/>
            <a:ext cx="52422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166360"/>
            <a:ext cx="460217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SSD &amp; Variational Output (Steps 4-6)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Filtered features are modeled via Mamba-2 linear state spaces and fused in VCM-SSD for final score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Software Architecture &amp; Framework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Production-ready open-source libraries powering the PH-SSD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12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Python 3.10+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Core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PyTorch 2.x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Deep Learning Engine &amp; Autograd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2880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Mamba-2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State Space Duality Backbone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Vision Transformer (ViT)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Patch Embedding Vision Encoder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DINOv2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Self-Supervised Vision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0896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29184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DB"/>
                </a:solidFill>
              </a:defRPr>
            </a:pPr>
            <a:r>
              <a:t>RoBERTa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Pretrained Language Transformer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Hugging Face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Model Registry &amp; Tokenizers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C3F"/>
                </a:solidFill>
              </a:defRPr>
            </a:pPr>
            <a:r>
              <a:t>timm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PyTorch Image Models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4134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754880"/>
            <a:ext cx="29562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YAML / PyYAML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Modular Configuration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EXPECTED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Comprehensive Evaluation Metrics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Rigorous metrics for evaluating accuracy, retrieval, latency, and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13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 (R@1)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Primary Image-Text Retrieval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Recall@5 (R@5)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Top-5 Candidate Retrieval 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56DB"/>
                </a:solidFill>
              </a:defRPr>
            </a:pPr>
            <a:r>
              <a:t>Recall@10 (R@10)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Top-10 Candidate Retrieval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82880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Accuracy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Classification &amp; Semantic Matching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Latency (ms)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End-to-End Inference Latency per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6432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C3F"/>
                </a:solidFill>
              </a:defRPr>
            </a:pPr>
            <a:r>
              <a:t>FLOPs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Floating Point Operations Overhead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Throughput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Processed Images/Sec Processing 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3840480"/>
            <a:ext cx="2542032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4023360"/>
            <a:ext cx="21762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</a:defRPr>
            </a:pPr>
            <a:r>
              <a:t>Memory (VRAM)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Peak GPU Memory Allocation (GB)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NOVEL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Key Scientific &amp; Architectural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Primary technical breakthroughs introduced in the PH-SSD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14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Port-Hamiltonian Noise Filtering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First pre-filter framework combining Port-Hamiltonian energy dynamics with deep neural representations for physics-inspired noise reduction.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Variational Cross-Modal Fusion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Novel VCM-SSD coupler enabling probabilistic latent space alignment between vision and text hidden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Mamba-2 State Space Dualities Backbone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Integration of Mamba-2 linear state spaces for dual-stream multimodal sequence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High Computational &amp; Memory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Linear-time O(N) scaling yielding lower VRAM usage and faster inference latency compared to Transformers.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✓ Modular &amp; Extensible Design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Clean, decoupled architecture supporting easy swapping of vision/text backbones and evaluation protocols.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Milestone Progress &amp; 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Overview of completed architectural milestones and pending experimental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15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5720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Completed Milestones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Architecture Designed &amp;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Dual-stream vision-text topology finalized.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Mathematical Formulation Established: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Port-Hamiltonian energy dissipation equations derived.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Code Implementation Built: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Modular PyTorch pipeline with SD-NPF &amp; VCM-SSD.</a:t>
            </a:r>
          </a:p>
          <a:p>
            <a:pPr>
              <a:spcAft>
                <a:spcPts val="200"/>
              </a:spcAft>
              <a:defRPr sz="1100" b="1">
                <a:solidFill>
                  <a:srgbClr val="047857"/>
                </a:solidFill>
              </a:defRPr>
            </a:pPr>
            <a:r>
              <a:t>✓ Unit Testing Suite Verified: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All forward passes and tensor shapes validated.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602175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A56DB"/>
                </a:solidFill>
              </a:defRPr>
            </a:pPr>
            <a:r>
              <a:t>Pending Execution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Flickr8k Model Training: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Launch multi-epoch training runs on Flickr8k dataset.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Benchmark Evaluation &amp; Ablation Studies: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Compute Recall@1, 5, 10 retrieval metrics &amp; FLOPs.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Comparative Analysis: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Evaluate against CLIP, BLIP-2, SigLIP, and VL-Mamba.</a:t>
            </a:r>
          </a:p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⏱ Publication Preparation:</a:t>
            </a:r>
          </a:p>
          <a:p>
            <a:pPr>
              <a:spcAft>
                <a:spcPts val="800"/>
              </a:spcAft>
              <a:defRPr sz="950">
                <a:solidFill>
                  <a:srgbClr val="334155"/>
                </a:solidFill>
              </a:defRPr>
            </a:pPr>
            <a:r>
              <a:t>   • Draft manuscript for target conference submission.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Dataset Expansion &amp; Target Publication Venues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Planned research roadmap, baseline comparisons, and target venues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16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74520"/>
            <a:ext cx="43891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C3F"/>
                </a:solidFill>
                <a:latin typeface="Arial"/>
              </a:defRPr>
            </a:pPr>
            <a:r>
              <a:t>Future Expansion &amp; Baselines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Dataset Expansion Plan: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Train and evaluate on Flickr8k.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Scale evaluation to Flickr30k benchmark.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Benchmark on large-scale MS-COCO dataset.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Baseline Models for Comparison: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CLIP (Contrastive Language-Image Pretraining)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BLIP-2 (Bootstrapped Language-Image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SigLIP (Sigmoid Loss for Language Image Pre-training)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Arial"/>
              </a:defRPr>
            </a:pPr>
            <a:r>
              <a:t>• VL-Mamba (Vision-Language State Space Baseline)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560320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A56DB"/>
                </a:solidFill>
              </a:defRPr>
            </a:pPr>
            <a:r>
              <a:t>NeurIPS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Neural Information Processing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645920"/>
            <a:ext cx="256032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9202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284C7"/>
                </a:solidFill>
              </a:defRPr>
            </a:pPr>
            <a:r>
              <a:t>ICML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Machine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2560320" cy="2011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0F1C3F"/>
                </a:solidFill>
              </a:defRPr>
            </a:pPr>
            <a:r>
              <a:t>ICLR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International Conference on Learning Representations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840480"/>
            <a:ext cx="2560320" cy="2011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41148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IEEE TPAMI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Transactions on Pattern Analysis &amp; Machine Intelligence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A56D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C3F"/>
                </a:solidFill>
                <a:latin typeface="Arial"/>
              </a:defRPr>
            </a:pPr>
            <a:r>
              <a:t>Summary of Research Impact &amp;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Arial"/>
              </a:defRPr>
            </a:pPr>
            <a:r>
              <a:t>Executive summary of the PH-SSD architecture and its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PH-SSD: Port-Hamiltonian State Space Dualities for Efficient Multimodal Learning          Slide 17 of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Novel Physics-Inspired Architecture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PH-SSD seamlessly combines Port-Hamiltonian energy dynamics with State Space Dualities for robust multimodal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Effective Noise Suppression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SD-NPF pre-filtering actively removes uninformative background noise and redundant feature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Linear O(N) Scaling Efficiency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Replaces quadratic Transformer self-attention with Mamba-2 linear state spaces for ultra-fast, low-memory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43984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Superior Cross-Modal Alignment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VCM-SSD variational coupler enforces tight latent space cohesion between vision and text streams.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DB"/>
                </a:solidFill>
              </a:defRPr>
            </a:pPr>
            <a:r>
              <a:t>Paving the Way for Efficient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Bridges control theory and state space models to push the frontier of scalable, efficient AI systems.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000" b="1">
                <a:solidFill>
                  <a:srgbClr val="0F1C3F"/>
                </a:solidFill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200" b="1">
                <a:solidFill>
                  <a:srgbClr val="1A56DB"/>
                </a:solidFill>
              </a:defRPr>
            </a:pPr>
            <a:r>
              <a:t>Questions &amp; Discussion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t>PH-SSD: Port-Hamiltonian State Space Dualities for Efficient Multimodal Learning</a:t>
            </a:r>
            <a:br/>
            <a:br/>
            <a:r>
              <a:t>Name: [Presenter Name]</a:t>
            </a:r>
            <a:br/>
            <a:r>
              <a:t>Department: [Department]</a:t>
            </a:r>
            <a:br/>
            <a:r>
              <a:t>University: [University]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